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65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618" y="43"/>
      </p:cViewPr>
      <p:guideLst>
        <p:guide orient="horz" pos="2865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19DCD-CAE8-4840-8210-AFC5902F3D0E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DEAA1-4CBC-4FE1-9E3F-6D286C73C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775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S. B. Jain Institute of Technology Management and research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DC41D-5DB3-4DCC-BB96-8EDBCE957C79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S. B. Jain Institute of Technology Management and research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CAA39-50F9-4143-BD3D-A7B74EBF91AB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S. B. Jain Institute of Technology Management and research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CD0D3-511A-4ECF-9497-11CBCBF09FFE}" type="datetime1">
              <a:rPr lang="en-US" smtClean="0"/>
              <a:t>8/17/2026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S. B. Jain Institute of Technology Management and research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A6FCC1-83CC-45A7-945E-BD22844077D3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S. B. Jain Institute of Technology Management and research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E8E68-AA93-4173-9C1C-7952BECC7BAE}" type="datetime1">
              <a:rPr lang="en-US" smtClean="0"/>
              <a:t>8/17/2026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49" y="309880"/>
                </a:moveTo>
                <a:lnTo>
                  <a:pt x="0" y="309880"/>
                </a:lnTo>
                <a:lnTo>
                  <a:pt x="0" y="0"/>
                </a:lnTo>
                <a:lnTo>
                  <a:pt x="8832849" y="0"/>
                </a:lnTo>
                <a:lnTo>
                  <a:pt x="8832849" y="309880"/>
                </a:lnTo>
                <a:close/>
              </a:path>
            </a:pathLst>
          </a:custGeom>
          <a:solidFill>
            <a:srgbClr val="8BA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89" y="6546849"/>
                </a:moveTo>
                <a:lnTo>
                  <a:pt x="0" y="6546849"/>
                </a:lnTo>
                <a:lnTo>
                  <a:pt x="0" y="0"/>
                </a:lnTo>
                <a:lnTo>
                  <a:pt x="8832849" y="0"/>
                </a:lnTo>
                <a:lnTo>
                  <a:pt x="8832849" y="6546849"/>
                </a:lnTo>
                <a:lnTo>
                  <a:pt x="4415789" y="6546849"/>
                </a:lnTo>
                <a:close/>
              </a:path>
            </a:pathLst>
          </a:custGeom>
          <a:ln w="9524">
            <a:solidFill>
              <a:srgbClr val="79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426" y="2896496"/>
            <a:ext cx="3082925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S. B. Jain Institute of Technology Management and research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04556-BBB4-4BAB-BC77-FF3C96C3283A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80185" y="285115"/>
            <a:ext cx="6950710" cy="183896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br>
              <a:rPr sz="32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</a:br>
            <a:r>
              <a:rPr sz="32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Experiential</a:t>
            </a:r>
            <a:r>
              <a:rPr sz="3200" spc="-6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Learning </a:t>
            </a:r>
            <a:r>
              <a:rPr sz="3200" spc="-2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3200" spc="-3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3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Assessment-</a:t>
            </a:r>
            <a:r>
              <a:rPr sz="3200" spc="-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I </a:t>
            </a:r>
            <a:r>
              <a:rPr sz="3200" spc="-2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 marL="2540" algn="ctr">
              <a:lnSpc>
                <a:spcPct val="100000"/>
              </a:lnSpc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“</a:t>
            </a:r>
            <a:r>
              <a:rPr sz="3200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200" spc="-14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Memory Allocation Simulator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”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5150" y="2238120"/>
            <a:ext cx="6595109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under</a:t>
            </a:r>
            <a:r>
              <a:rPr sz="2800" b="1" spc="-12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b="1" spc="-7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course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4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Python</a:t>
            </a:r>
            <a:r>
              <a:rPr sz="2400" b="1" spc="-9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Programming</a:t>
            </a:r>
            <a:r>
              <a:rPr sz="2400" b="1" spc="-9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Language</a:t>
            </a:r>
            <a:r>
              <a:rPr sz="2400" b="1" spc="-9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2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(N-</a:t>
            </a:r>
            <a:r>
              <a:rPr sz="24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PCCCM304P)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9570" y="3310890"/>
            <a:ext cx="1917700" cy="111125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2000" b="1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By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" sz="2000" b="1" dirty="0">
                <a:latin typeface="Times New Roman" panose="02020603050405020304"/>
                <a:cs typeface="Times New Roman" panose="02020603050405020304"/>
              </a:rPr>
              <a:t>Suhani D Kadu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" sz="2000" b="1" dirty="0">
                <a:latin typeface="Times New Roman" panose="02020603050405020304"/>
                <a:cs typeface="Times New Roman" panose="02020603050405020304"/>
              </a:rPr>
              <a:t>(CM25114)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99716" y="3292240"/>
            <a:ext cx="22193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4570" marR="5080" indent="-99250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Under</a:t>
            </a: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0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Guidance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of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0955">
              <a:lnSpc>
                <a:spcPct val="100000"/>
              </a:lnSpc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Mrs.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Mayuri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Getme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8575" y="3286617"/>
            <a:ext cx="1455566" cy="102441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26697" y="4662423"/>
            <a:ext cx="7976870" cy="203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521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Times New Roman" panose="02020603050405020304"/>
                <a:cs typeface="Times New Roman" panose="02020603050405020304"/>
              </a:rPr>
              <a:t>Session:2026-</a:t>
            </a:r>
            <a:r>
              <a:rPr sz="2200" b="1" dirty="0">
                <a:latin typeface="Times New Roman" panose="02020603050405020304"/>
                <a:cs typeface="Times New Roman" panose="02020603050405020304"/>
              </a:rPr>
              <a:t>27</a:t>
            </a:r>
            <a:r>
              <a:rPr sz="22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dirty="0">
                <a:latin typeface="Times New Roman" panose="02020603050405020304"/>
                <a:cs typeface="Times New Roman" panose="02020603050405020304"/>
              </a:rPr>
              <a:t>(ODD</a:t>
            </a:r>
            <a:r>
              <a:rPr sz="2200" b="1" spc="-50" dirty="0">
                <a:latin typeface="Times New Roman" panose="02020603050405020304"/>
                <a:cs typeface="Times New Roman" panose="02020603050405020304"/>
              </a:rPr>
              <a:t> )</a:t>
            </a:r>
            <a:endParaRPr sz="2200" dirty="0">
              <a:latin typeface="Times New Roman" panose="02020603050405020304"/>
              <a:cs typeface="Times New Roman" panose="02020603050405020304"/>
            </a:endParaRPr>
          </a:p>
          <a:p>
            <a:pPr marL="2287905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Department</a:t>
            </a:r>
            <a:r>
              <a:rPr sz="18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8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CSE(AI&amp;ML)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2340"/>
              </a:lnSpc>
              <a:spcBef>
                <a:spcPts val="635"/>
              </a:spcBef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S.</a:t>
            </a:r>
            <a:r>
              <a:rPr sz="20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B.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JAIN</a:t>
            </a:r>
            <a:r>
              <a:rPr sz="20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20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0" dirty="0">
                <a:latin typeface="Times New Roman" panose="02020603050405020304"/>
                <a:cs typeface="Times New Roman" panose="02020603050405020304"/>
              </a:rPr>
              <a:t>TECHNOLOGY</a:t>
            </a:r>
            <a:r>
              <a:rPr sz="20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2000" b="1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AND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2265045">
              <a:lnSpc>
                <a:spcPts val="2255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RESEARCH,NAGPUR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481330">
              <a:lnSpc>
                <a:spcPts val="2315"/>
              </a:lnSpc>
            </a:pPr>
            <a:r>
              <a:rPr sz="2000" b="1" spc="-2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2000" b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Autonomous</a:t>
            </a:r>
            <a:r>
              <a:rPr sz="20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Institute,</a:t>
            </a:r>
            <a:r>
              <a:rPr sz="2000" b="1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Affiliated</a:t>
            </a:r>
            <a:r>
              <a:rPr sz="20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0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RTMNU,</a:t>
            </a:r>
            <a:r>
              <a:rPr sz="20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Nagpur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1770"/>
              </a:spcBef>
            </a:pPr>
            <a:r>
              <a:rPr sz="140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)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9D15FE-B881-6C5A-0CB2-2A61F5873B8B}"/>
              </a:ext>
            </a:extLst>
          </p:cNvPr>
          <p:cNvSpPr txBox="1"/>
          <p:nvPr/>
        </p:nvSpPr>
        <p:spPr>
          <a:xfrm>
            <a:off x="140432" y="6401392"/>
            <a:ext cx="6412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bg1"/>
                </a:solidFill>
              </a:rPr>
              <a:t>S. B. Jain Institute of Technology Management and research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52760" y="301752"/>
            <a:ext cx="5943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758952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56032" rIns="320040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PROJECT REQUIREMENT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Create a memory allocation simulator using linked lists to manage free and allocated memory blocks and demonstrate basic concepts of memory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977639"/>
            <a:ext cx="1737360" cy="8686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FREE | 300 KB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10840" y="3977640"/>
            <a:ext cx="1386840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P1 | 200 KB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45025" y="3977640"/>
            <a:ext cx="2253615" cy="8686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FREE | 500 KB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99300" y="3977640"/>
            <a:ext cx="1584325" cy="868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P2 | 150 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7517765" cy="5334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Linked List  →  Find free block  →  Allocate / Deallocate  →  Update memory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CC50F-47FA-6D81-E7C8-F348F7DEC6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0" y="6377940"/>
            <a:ext cx="6477000" cy="27699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S. B. Jain Institute of Technology Management and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52760" y="301752"/>
            <a:ext cx="5943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7373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01  Memory Management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Understand allocation and deallocation.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4864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00400" y="1295400"/>
            <a:ext cx="2038985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02  Linked List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Represent free and allocated blocks.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6600" y="1234440"/>
            <a:ext cx="54864" cy="1783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21730" y="1234440"/>
            <a:ext cx="17373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03  Process Simulation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Assign and release memory for processes.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8400" y="1234440"/>
            <a:ext cx="54864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7373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04  Block Tracking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Track size and status of each block.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54864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25800" y="3657600"/>
            <a:ext cx="2254885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05  Core Concepts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Demonstrate basic memory management.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1035" y="3657600"/>
            <a:ext cx="76200" cy="1630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39840" y="3657600"/>
            <a:ext cx="2279650" cy="197548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06  Python Logic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Apply Python to a practical problem.</a:t>
            </a:r>
          </a:p>
        </p:txBody>
      </p:sp>
      <p:sp>
        <p:nvSpPr>
          <p:cNvPr id="17" name="Rectangle 16"/>
          <p:cNvSpPr/>
          <p:nvPr/>
        </p:nvSpPr>
        <p:spPr>
          <a:xfrm flipH="1">
            <a:off x="6248400" y="3733800"/>
            <a:ext cx="76200" cy="1783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75227-D136-DFA5-56AD-33C37A247F5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-21336" y="6377940"/>
            <a:ext cx="6574536" cy="27699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S. B. Jain Institute of Technology Management and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Algorithm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52760" y="301752"/>
            <a:ext cx="5943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521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rPr dirty="0"/>
              <a:t>Memory Allocation Simulator  •  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16459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1. Initialize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Set total memory size.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188720"/>
            <a:ext cx="54864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82875" y="1188720"/>
            <a:ext cx="1939925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2. Create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Create initial free block.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188720"/>
            <a:ext cx="54864" cy="1783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34915" y="1188720"/>
            <a:ext cx="1757680" cy="16681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3. Input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Enter process ID and size.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8405" y="1219200"/>
            <a:ext cx="76200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96125" y="1188720"/>
            <a:ext cx="154368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4. Search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Traverse the linked list.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1188720"/>
            <a:ext cx="54864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17373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5. Allocate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Update the selected block.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611880"/>
            <a:ext cx="54864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837180" y="3611880"/>
            <a:ext cx="16459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6. Deallocate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Release a completed process.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2570" y="3611880"/>
            <a:ext cx="54864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60595" y="3611880"/>
            <a:ext cx="15544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7. Merge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Combine adjacent free blocks.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3581400"/>
            <a:ext cx="54864" cy="1783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052945" y="3611880"/>
            <a:ext cx="15544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8. Display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Show updated memory status.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31990" y="3611880"/>
            <a:ext cx="54864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9EC71880-29F4-B43A-123D-7C8F1434F7D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152400" y="6412230"/>
            <a:ext cx="6412610" cy="27699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S. B. Jain Institute of Technology Management and research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Flowchart / Pseudocode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52760" y="301752"/>
            <a:ext cx="5943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1860" y="1002991"/>
            <a:ext cx="2240280" cy="475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dirty="0"/>
              <a:t>START</a:t>
            </a:r>
          </a:p>
        </p:txBody>
      </p:sp>
      <p:sp>
        <p:nvSpPr>
          <p:cNvPr id="7" name="Down Arrow 6"/>
          <p:cNvSpPr/>
          <p:nvPr/>
        </p:nvSpPr>
        <p:spPr>
          <a:xfrm>
            <a:off x="4323190" y="1507238"/>
            <a:ext cx="27432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15417" y="1804947"/>
            <a:ext cx="22402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Initialize Memory</a:t>
            </a:r>
          </a:p>
        </p:txBody>
      </p:sp>
      <p:sp>
        <p:nvSpPr>
          <p:cNvPr id="9" name="Down Arrow 8"/>
          <p:cNvSpPr/>
          <p:nvPr/>
        </p:nvSpPr>
        <p:spPr>
          <a:xfrm>
            <a:off x="4323190" y="2274932"/>
            <a:ext cx="27432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15417" y="2700262"/>
            <a:ext cx="2240280" cy="47548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Create Linked List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286747" y="3143880"/>
            <a:ext cx="27432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15417" y="3518650"/>
            <a:ext cx="22402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Input Process &amp; Size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286747" y="4041681"/>
            <a:ext cx="27432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15417" y="4352544"/>
            <a:ext cx="2240280" cy="47548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Find FREE Block</a:t>
            </a:r>
          </a:p>
        </p:txBody>
      </p:sp>
      <p:sp>
        <p:nvSpPr>
          <p:cNvPr id="15" name="Diamond 14"/>
          <p:cNvSpPr/>
          <p:nvPr/>
        </p:nvSpPr>
        <p:spPr>
          <a:xfrm>
            <a:off x="3669527" y="4846320"/>
            <a:ext cx="1508760" cy="713232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AVAILABLE?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597321"/>
            <a:ext cx="20116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NO → 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53000" y="5597321"/>
            <a:ext cx="20116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YES → ALLOCATE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E90A8-5569-9C42-2E8C-544789428B3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377940"/>
            <a:ext cx="6400800" cy="27699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S. B. Jain Institute of Technology Management and research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Understanding of Python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52760" y="301752"/>
            <a:ext cx="5943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011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MemoryBlock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Represents each memory block.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4864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380744"/>
            <a:ext cx="10058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CLASS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3705" y="1234440"/>
            <a:ext cx="2194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next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Connects blocks dynamically.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1320" y="1371600"/>
            <a:ext cx="54864" cy="1783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193415" y="1468755"/>
            <a:ext cx="1402080" cy="300355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LINKED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12765" y="1234440"/>
            <a:ext cx="26517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for / while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Traverses blocks to find memory.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12765" y="1219200"/>
            <a:ext cx="54864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78525" y="1380490"/>
            <a:ext cx="1261110" cy="41275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LOOPS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1920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if / else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Checks whether a block is suitable.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57600"/>
            <a:ext cx="54864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4400" y="3803904"/>
            <a:ext cx="100584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CONDITIONS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37535" y="3657600"/>
            <a:ext cx="19329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allocate()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Handles allocation and deallocation.</a:t>
            </a:r>
          </a:p>
        </p:txBody>
      </p:sp>
      <p:sp>
        <p:nvSpPr>
          <p:cNvPr id="19" name="Rectangle 18"/>
          <p:cNvSpPr/>
          <p:nvPr/>
        </p:nvSpPr>
        <p:spPr>
          <a:xfrm flipH="1">
            <a:off x="3087370" y="3657600"/>
            <a:ext cx="85725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709035" y="3864610"/>
            <a:ext cx="772160" cy="248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FUNCTIONS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78525" y="3657600"/>
            <a:ext cx="2286635" cy="16535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size / ID / status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Stores block information.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657600"/>
            <a:ext cx="54864" cy="1783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87769" y="3803904"/>
            <a:ext cx="1005840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7B4B1-A8BE-5F00-7B09-96B1A22DE23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131064" y="6377940"/>
            <a:ext cx="6345936" cy="27699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S. B. Jain Institute of Technology Management and research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GitHub &amp; Project Contribution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52760" y="301752"/>
            <a:ext cx="5943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t>07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11556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81328" y="1088136"/>
            <a:ext cx="3840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Repository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Create a dedicated project repository.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481328" y="1088136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81328" y="2029968"/>
            <a:ext cx="3840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Upload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Add Python source code and project files.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81328" y="2029968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2999232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81328" y="2971800"/>
            <a:ext cx="3840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Commits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Use meaningful commit messages.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81328" y="2971800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3941063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81328" y="3913631"/>
            <a:ext cx="3840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Collaboration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Work together through GitHub.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913631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77240" y="4882896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81328" y="4855464"/>
            <a:ext cx="3840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Contribution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Show individual work clearly.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81328" y="4855464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AA538-A262-E267-4F1A-9EE8E9DE7CE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131064" y="6377940"/>
            <a:ext cx="6422136" cy="342900"/>
          </a:xfrm>
        </p:spPr>
        <p:txBody>
          <a:bodyPr/>
          <a:lstStyle/>
          <a:p>
            <a:r>
              <a:rPr lang="en-US" dirty="0"/>
              <a:t>S. B. Jain Institute of Technology Management and research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652760" y="301752"/>
            <a:ext cx="5943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685800" y="2133600"/>
            <a:ext cx="10058400" cy="1645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</a:defRPr>
            </a:pPr>
            <a:r>
              <a:rPr dirty="0"/>
              <a:t>Thank You</a:t>
            </a:r>
          </a:p>
          <a:p>
            <a:pPr algn="ctr">
              <a:defRPr sz="2000">
                <a:solidFill>
                  <a:srgbClr val="2563EB"/>
                </a:solidFill>
              </a:defRPr>
            </a:pPr>
            <a:r>
              <a:rPr dirty="0"/>
              <a:t>Questions &amp; Discussion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629599-1734-0E02-A610-DAE61006645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377940"/>
            <a:ext cx="6400800" cy="27699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S. B. Jain Institute of Technology Management and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481</Words>
  <Application>Microsoft Office PowerPoint</Application>
  <PresentationFormat>On-screen Show (4:3)</PresentationFormat>
  <Paragraphs>115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 Experiential Learning Project Assessment-I on “ Memory Allocation Simulator 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_x000b_Experiential Learning Project Assessment-I on_x000d_“ Memory Allocation Simulator ”</dc:title>
  <dc:creator/>
  <cp:lastModifiedBy>Jayshri Dhote</cp:lastModifiedBy>
  <cp:revision>3</cp:revision>
  <dcterms:created xsi:type="dcterms:W3CDTF">2026-08-16T05:23:02Z</dcterms:created>
  <dcterms:modified xsi:type="dcterms:W3CDTF">2026-08-17T05:05:10Z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2026-08-14T05:30:00Z</vt:filetime>
  </property>
  <property fmtid="{D5CDD505-2E9C-101B-9397-08002B2CF9AE}" pid="4" name="Creator">
    <vt:lpwstr>Google</vt:lpwstr>
  </property>
  <property fmtid="{D5CDD505-2E9C-101B-9397-08002B2CF9AE}" pid="5" name="LastSaved">
    <vt:filetime>2026-08-14T05:30:00Z</vt:filetime>
  </property>
  <property fmtid="{D5CDD505-2E9C-101B-9397-08002B2CF9AE}" pid="6" name="KSOProductBuildVer">
    <vt:lpwstr>1033-12.1.0.28032</vt:lpwstr>
  </property>
  <property fmtid="{D5CDD505-2E9C-101B-9397-08002B2CF9AE}" pid="7" name="ICV">
    <vt:lpwstr>1A94BC8B9B774E008F96D55954E6E56C_13</vt:lpwstr>
  </property>
</Properties>
</file>